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75895"/>
            <a:ext cx="91440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spc="2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CONFIDENTIAL —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285750" y="209398"/>
            <a:ext cx="85725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PE-Backed Healthcare IPOs (2024–2025)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85750" y="437998"/>
            <a:ext cx="8572500" cy="170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sponsor-backed healthcare companies that completed IPOs since 2023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85750" y="590702"/>
            <a:ext cx="8572500" cy="19202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7" name="Text 5"/>
          <p:cNvSpPr/>
          <p:nvPr/>
        </p:nvSpPr>
        <p:spPr>
          <a:xfrm>
            <a:off x="285750" y="638251"/>
            <a:ext cx="8572500" cy="1042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 in millions, unless otherwise noted)</a:t>
            </a:r>
            <a:endParaRPr lang="en-US" sz="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5750" y="742950"/>
          <a:ext cx="8572500" cy="914400"/>
        </p:xfrm>
        <a:graphic>
          <a:graphicData uri="http://schemas.openxmlformats.org/drawingml/2006/table">
            <a:tbl>
              <a:tblPr/>
              <a:tblGrid>
                <a:gridCol w="1057961"/>
                <a:gridCol w="402336"/>
                <a:gridCol w="952805"/>
                <a:gridCol w="952805"/>
                <a:gridCol w="444398"/>
                <a:gridCol w="423367"/>
                <a:gridCol w="761695"/>
                <a:gridCol w="465430"/>
                <a:gridCol w="550469"/>
                <a:gridCol w="529438"/>
                <a:gridCol w="592531"/>
                <a:gridCol w="571500"/>
                <a:gridCol w="423367"/>
                <a:gridCol w="444398"/>
              </a:tblGrid>
              <a:tr h="164592"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Information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4E8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IPO Details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75B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LTM Financials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9DCC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D4E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Valuation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6EAF8"/>
                    </a:solidFill>
                  </a:tcPr>
                </a:tc>
                <a:tc hMerge="1">
                  <a:tcPr/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D2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D4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D2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D4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D2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D4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D2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 Sponsor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D4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D2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IPO Date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D4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1D2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Shares Offered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D4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D2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 Price Range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D4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1D2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IPO Price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D4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1D2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Proceeds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D4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1D2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IPO Mkt Cap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D4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1D2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LTM Revenue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D4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1D2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LTM Adj. EBITDA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D4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1D2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 / Rev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D4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1D2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 / EBITDA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D4E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D2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BrightSpring Health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D4E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BTSG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&amp; Community Health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KKR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2024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53.3M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$15.00–$18.00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$13.00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$1,108M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~$3.0B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$8,830M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~$280M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1D4E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0.3x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1D4E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~10.7x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D2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PACS Group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D4E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Skilled Nursing / Post-Acute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PE-backed (undisclosed)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2024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21.4M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$18.00–$21.00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$21.00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$450M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~$3.0B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~$2,000M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~$230M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1D4E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~1.5x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1D4E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~13.0x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D2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Waystar Holding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D4E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WAY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Healthcare IT / RCM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EQT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2024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45.0M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$20.00–$23.00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$21.50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$909M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~$5.3B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~$854M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~$340M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1D4E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~6.2x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1D4E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~15.6x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D2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Ardent Health Partners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D4E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Systems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Group Investments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2024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12.0M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$16.00–$19.00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$16.00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$192M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~$2.7B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~$5,400M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~$314M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1D4E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0.5x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1D4E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~8.6x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D2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Lumexa Imaging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D4E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LMRI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Outpatient Imaging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Welsh, Carson, Anderson &amp; Stowe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2025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25.0M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$17.00–$20.00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$18.50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$463M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~$2.8B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~$800M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~$180M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1D4E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~3.5x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1D4E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~15.6x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D2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Medline Industries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D4E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MDLN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Supplies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Blackstone / Carlyle / H&amp;F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2025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216.0M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$27.00–$30.00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$29.00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$6,264M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~$37.3B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~$23,000M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~$1,700M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1D4E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~1.6x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1D4E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~22.0x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85750" y="4733849"/>
            <a:ext cx="8572500" cy="9144"/>
          </a:xfrm>
          <a:prstGeom prst="rect">
            <a:avLst/>
          </a:prstGeom>
          <a:solidFill>
            <a:srgbClr val="8BABC4"/>
          </a:solidFill>
          <a:ln/>
        </p:spPr>
      </p:sp>
      <p:sp>
        <p:nvSpPr>
          <p:cNvPr id="10" name="Text 7"/>
          <p:cNvSpPr/>
          <p:nvPr/>
        </p:nvSpPr>
        <p:spPr>
          <a:xfrm>
            <a:off x="285750" y="4762195"/>
            <a:ext cx="7429500" cy="2862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 filings, company press releases, Renaissance Capital. LTM figures as reported at IPO. Multiples calculated at IPO equity market cap; may differ from EV-based multiples. PACS Group pre-IPO sponsor details not publicly confirmed.</a:t>
            </a:r>
            <a:endParaRPr lang="en-US" sz="500" dirty="0"/>
          </a:p>
        </p:txBody>
      </p:sp>
      <p:sp>
        <p:nvSpPr>
          <p:cNvPr id="11" name="Text 8"/>
          <p:cNvSpPr/>
          <p:nvPr/>
        </p:nvSpPr>
        <p:spPr>
          <a:xfrm>
            <a:off x="8382305" y="4781398"/>
            <a:ext cx="476402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2026-03-25T14:57:42Z</dcterms:created>
  <dcterms:modified xsi:type="dcterms:W3CDTF">2026-03-25T14:57:42Z</dcterms:modified>
</cp:coreProperties>
</file>