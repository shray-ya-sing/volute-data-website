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436876" y="914400"/>
            <a:ext cx="7315200" cy="347472"/>
          </a:xfrm>
          <a:prstGeom prst="rect">
            <a:avLst/>
          </a:prstGeom>
          <a:solidFill>
            <a:srgbClr val="FFFFFF"/>
          </a:solidFill>
          <a:ln w="38100">
            <a:solidFill>
              <a:srgbClr val="B91C1C"/>
            </a:solidFill>
            <a:prstDash val="solid"/>
          </a:ln>
        </p:spPr>
      </p:sp>
      <p:sp>
        <p:nvSpPr>
          <p:cNvPr id="3" name="Text 1"/>
          <p:cNvSpPr/>
          <p:nvPr/>
        </p:nvSpPr>
        <p:spPr>
          <a:xfrm>
            <a:off x="2436876" y="914400"/>
            <a:ext cx="7315200" cy="347472"/>
          </a:xfrm>
          <a:prstGeom prst="rect">
            <a:avLst/>
          </a:prstGeom>
          <a:noFill/>
          <a:ln/>
        </p:spPr>
        <p:txBody>
          <a:bodyPr wrap="square" lIns="0" tIns="0" rIns="0" bIns="0" rtlCol="0" anchor="ctr"/>
          <a:lstStyle/>
          <a:p>
            <a:pPr algn="ctr" indent="0" marL="0">
              <a:buNone/>
            </a:pPr>
            <a:r>
              <a:rPr lang="en-US" sz="750" b="1" spc="100" kern="0" dirty="0">
                <a:solidFill>
                  <a:srgbClr val="B91C1C"/>
                </a:solidFill>
                <a:latin typeface="Inter" pitchFamily="34" charset="0"/>
                <a:ea typeface="Inter" pitchFamily="34" charset="-122"/>
                <a:cs typeface="Inter" pitchFamily="34" charset="-120"/>
              </a:rPr>
              <a:t>STRICTLY CONFIDENTIAL, PRELIMINARY DRAFT AND SUBJECT TO CHANGE</a:t>
            </a:r>
            <a:endParaRPr lang="en-US" sz="750" dirty="0"/>
          </a:p>
        </p:txBody>
      </p:sp>
      <p:sp>
        <p:nvSpPr>
          <p:cNvPr id="4" name="Shape 2"/>
          <p:cNvSpPr/>
          <p:nvPr/>
        </p:nvSpPr>
        <p:spPr>
          <a:xfrm>
            <a:off x="914400" y="1627632"/>
            <a:ext cx="950976" cy="950976"/>
          </a:xfrm>
          <a:prstGeom prst="rect">
            <a:avLst/>
          </a:prstGeom>
          <a:solidFill>
            <a:srgbClr val="1D4ED8"/>
          </a:solidFill>
          <a:ln w="12700">
            <a:solidFill>
              <a:srgbClr val="1D4ED8"/>
            </a:solidFill>
            <a:prstDash val="solid"/>
          </a:ln>
        </p:spPr>
      </p:sp>
      <p:sp>
        <p:nvSpPr>
          <p:cNvPr id="5" name="Text 3"/>
          <p:cNvSpPr/>
          <p:nvPr/>
        </p:nvSpPr>
        <p:spPr>
          <a:xfrm>
            <a:off x="914400" y="1627632"/>
            <a:ext cx="950976" cy="950976"/>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Goldman</a:t>
            </a:r>
            <a:endParaRPr lang="en-US" sz="900" dirty="0"/>
          </a:p>
          <a:p>
            <a:pPr algn="ctr" indent="0" marL="0">
              <a:buNone/>
            </a:pPr>
            <a:r>
              <a:rPr lang="en-US" sz="900" b="1" dirty="0">
                <a:solidFill>
                  <a:srgbClr val="FFFFFF"/>
                </a:solidFill>
                <a:latin typeface="Inter" pitchFamily="34" charset="0"/>
                <a:ea typeface="Inter" pitchFamily="34" charset="-122"/>
                <a:cs typeface="Inter" pitchFamily="34" charset="-120"/>
              </a:rPr>
              <a:t>Sachs</a:t>
            </a:r>
            <a:endParaRPr lang="en-US" sz="900" dirty="0"/>
          </a:p>
        </p:txBody>
      </p:sp>
      <p:sp>
        <p:nvSpPr>
          <p:cNvPr id="6" name="Text 4"/>
          <p:cNvSpPr/>
          <p:nvPr/>
        </p:nvSpPr>
        <p:spPr>
          <a:xfrm>
            <a:off x="8714232" y="1627632"/>
            <a:ext cx="2560320" cy="457200"/>
          </a:xfrm>
          <a:prstGeom prst="rect">
            <a:avLst/>
          </a:prstGeom>
          <a:noFill/>
          <a:ln/>
        </p:spPr>
        <p:txBody>
          <a:bodyPr wrap="square" lIns="0" tIns="0" rIns="0" bIns="0" rtlCol="0" anchor="ctr"/>
          <a:lstStyle/>
          <a:p>
            <a:pPr algn="r" indent="0" marL="0">
              <a:buNone/>
            </a:pPr>
            <a:r>
              <a:rPr lang="en-US" sz="850" spc="100" kern="0" dirty="0">
                <a:solidFill>
                  <a:srgbClr val="4B5563"/>
                </a:solidFill>
                <a:latin typeface="Inter" pitchFamily="34" charset="0"/>
                <a:ea typeface="Inter" pitchFamily="34" charset="-122"/>
                <a:cs typeface="Inter" pitchFamily="34" charset="-120"/>
              </a:rPr>
              <a:t>INVESTMENT BANKING</a:t>
            </a:r>
            <a:endParaRPr lang="en-US" sz="850" dirty="0"/>
          </a:p>
          <a:p>
            <a:pPr algn="r" indent="0" marL="0">
              <a:buNone/>
            </a:pPr>
            <a:r>
              <a:rPr lang="en-US" sz="850" spc="100" kern="0" dirty="0">
                <a:solidFill>
                  <a:srgbClr val="4B5563"/>
                </a:solidFill>
                <a:latin typeface="Inter" pitchFamily="34" charset="0"/>
                <a:ea typeface="Inter" pitchFamily="34" charset="-122"/>
                <a:cs typeface="Inter" pitchFamily="34" charset="-120"/>
              </a:rPr>
              <a:t>DIVISION</a:t>
            </a:r>
            <a:endParaRPr lang="en-US" sz="850" dirty="0"/>
          </a:p>
        </p:txBody>
      </p:sp>
      <p:sp>
        <p:nvSpPr>
          <p:cNvPr id="7" name="Shape 5"/>
          <p:cNvSpPr/>
          <p:nvPr/>
        </p:nvSpPr>
        <p:spPr>
          <a:xfrm>
            <a:off x="914400" y="2852928"/>
            <a:ext cx="10360152" cy="0"/>
          </a:xfrm>
          <a:prstGeom prst="line">
            <a:avLst/>
          </a:prstGeom>
          <a:noFill/>
          <a:ln w="12700">
            <a:solidFill>
              <a:srgbClr val="9CA3AF"/>
            </a:solidFill>
            <a:prstDash val="solid"/>
          </a:ln>
        </p:spPr>
      </p:sp>
      <p:sp>
        <p:nvSpPr>
          <p:cNvPr id="8" name="Text 6"/>
          <p:cNvSpPr/>
          <p:nvPr/>
        </p:nvSpPr>
        <p:spPr>
          <a:xfrm>
            <a:off x="914400" y="3355848"/>
            <a:ext cx="10360152" cy="914400"/>
          </a:xfrm>
          <a:prstGeom prst="rect">
            <a:avLst/>
          </a:prstGeom>
          <a:noFill/>
          <a:ln/>
        </p:spPr>
        <p:txBody>
          <a:bodyPr wrap="square" lIns="0" tIns="0" rIns="0" bIns="0" rtlCol="0" anchor="ctr"/>
          <a:lstStyle/>
          <a:p>
            <a:pPr indent="0" marL="0">
              <a:buNone/>
            </a:pPr>
            <a:r>
              <a:rPr lang="en-US" sz="4400" dirty="0">
                <a:solidFill>
                  <a:srgbClr val="111827"/>
                </a:solidFill>
                <a:latin typeface="Inter" pitchFamily="34" charset="0"/>
                <a:ea typeface="Inter" pitchFamily="34" charset="-122"/>
                <a:cs typeface="Inter" pitchFamily="34" charset="-120"/>
              </a:rPr>
              <a:t>Project Raven</a:t>
            </a:r>
            <a:endParaRPr lang="en-US" sz="4400" dirty="0"/>
          </a:p>
        </p:txBody>
      </p:sp>
      <p:sp>
        <p:nvSpPr>
          <p:cNvPr id="9" name="Text 7"/>
          <p:cNvSpPr/>
          <p:nvPr/>
        </p:nvSpPr>
        <p:spPr>
          <a:xfrm>
            <a:off x="914400" y="4315968"/>
            <a:ext cx="10360152" cy="822960"/>
          </a:xfrm>
          <a:prstGeom prst="rect">
            <a:avLst/>
          </a:prstGeom>
          <a:noFill/>
          <a:ln/>
        </p:spPr>
        <p:txBody>
          <a:bodyPr wrap="square" lIns="0" tIns="0" rIns="0" bIns="0" rtlCol="0" anchor="ctr"/>
          <a:lstStyle/>
          <a:p>
            <a:pPr indent="0" marL="0">
              <a:buNone/>
            </a:pPr>
            <a:r>
              <a:rPr lang="en-US" sz="3800" dirty="0">
                <a:solidFill>
                  <a:srgbClr val="60A5FA"/>
                </a:solidFill>
                <a:latin typeface="Inter" pitchFamily="34" charset="0"/>
                <a:ea typeface="Inter" pitchFamily="34" charset="-122"/>
                <a:cs typeface="Inter" pitchFamily="34" charset="-120"/>
              </a:rPr>
              <a:t>Discussion Materials</a:t>
            </a:r>
            <a:endParaRPr lang="en-US" sz="3800" dirty="0"/>
          </a:p>
        </p:txBody>
      </p:sp>
      <p:sp>
        <p:nvSpPr>
          <p:cNvPr id="10" name="Text 8"/>
          <p:cNvSpPr/>
          <p:nvPr/>
        </p:nvSpPr>
        <p:spPr>
          <a:xfrm>
            <a:off x="914400" y="5321808"/>
            <a:ext cx="10360152" cy="320040"/>
          </a:xfrm>
          <a:prstGeom prst="rect">
            <a:avLst/>
          </a:prstGeom>
          <a:noFill/>
          <a:ln/>
        </p:spPr>
        <p:txBody>
          <a:bodyPr wrap="square" lIns="0" tIns="0" rIns="0" bIns="0" rtlCol="0" anchor="ctr"/>
          <a:lstStyle/>
          <a:p>
            <a:pPr indent="0" marL="0">
              <a:buNone/>
            </a:pPr>
            <a:r>
              <a:rPr lang="en-US" sz="1400" b="1" dirty="0">
                <a:solidFill>
                  <a:srgbClr val="111827"/>
                </a:solidFill>
                <a:latin typeface="Inter" pitchFamily="34" charset="0"/>
                <a:ea typeface="Inter" pitchFamily="34" charset="-122"/>
                <a:cs typeface="Inter" pitchFamily="34" charset="-120"/>
              </a:rPr>
              <a:t>Goldman Sachs &amp; Co. LLC</a:t>
            </a:r>
            <a:endParaRPr lang="en-US" sz="1400" dirty="0"/>
          </a:p>
        </p:txBody>
      </p:sp>
      <p:sp>
        <p:nvSpPr>
          <p:cNvPr id="11" name="Text 9"/>
          <p:cNvSpPr/>
          <p:nvPr/>
        </p:nvSpPr>
        <p:spPr>
          <a:xfrm>
            <a:off x="914400" y="5669280"/>
            <a:ext cx="10360152" cy="320040"/>
          </a:xfrm>
          <a:prstGeom prst="rect">
            <a:avLst/>
          </a:prstGeom>
          <a:noFill/>
          <a:ln/>
        </p:spPr>
        <p:txBody>
          <a:bodyPr wrap="square" lIns="0" tIns="0" rIns="0" bIns="0" rtlCol="0" anchor="ctr"/>
          <a:lstStyle/>
          <a:p>
            <a:pPr indent="0" marL="0">
              <a:buNone/>
            </a:pPr>
            <a:r>
              <a:rPr lang="en-US" sz="1400" dirty="0">
                <a:solidFill>
                  <a:srgbClr val="111827"/>
                </a:solidFill>
                <a:latin typeface="Inter" pitchFamily="34" charset="0"/>
                <a:ea typeface="Inter" pitchFamily="34" charset="-122"/>
                <a:cs typeface="Inter" pitchFamily="34" charset="-120"/>
              </a:rPr>
              <a:t>August 13, 2019</a:t>
            </a:r>
            <a:endParaRPr lang="en-US" sz="1400" dirty="0"/>
          </a:p>
        </p:txBody>
      </p:sp>
      <p:sp>
        <p:nvSpPr>
          <p:cNvPr id="12" name="Shape 10"/>
          <p:cNvSpPr/>
          <p:nvPr/>
        </p:nvSpPr>
        <p:spPr>
          <a:xfrm>
            <a:off x="914400" y="5897880"/>
            <a:ext cx="10360152" cy="0"/>
          </a:xfrm>
          <a:prstGeom prst="line">
            <a:avLst/>
          </a:prstGeom>
          <a:noFill/>
          <a:ln w="12700">
            <a:solidFill>
              <a:srgbClr val="9CA3AF"/>
            </a:solidFill>
            <a:prstDash val="solid"/>
          </a:ln>
        </p:spPr>
      </p:sp>
      <p:sp>
        <p:nvSpPr>
          <p:cNvPr id="13" name="Text 11"/>
          <p:cNvSpPr/>
          <p:nvPr/>
        </p:nvSpPr>
        <p:spPr>
          <a:xfrm>
            <a:off x="914400" y="5989320"/>
            <a:ext cx="10360152" cy="685800"/>
          </a:xfrm>
          <a:prstGeom prst="rect">
            <a:avLst/>
          </a:prstGeom>
          <a:noFill/>
          <a:ln/>
        </p:spPr>
        <p:txBody>
          <a:bodyPr wrap="square" lIns="0" tIns="0" rIns="0" bIns="0" rtlCol="0" anchor="t"/>
          <a:lstStyle/>
          <a:p>
            <a:pPr algn="l" indent="0" marL="0">
              <a:buNone/>
            </a:pPr>
            <a:r>
              <a:rPr lang="en-US" sz="600" dirty="0">
                <a:solidFill>
                  <a:srgbClr val="6B7280"/>
                </a:solidFill>
                <a:latin typeface="Inter" pitchFamily="34" charset="0"/>
                <a:ea typeface="Inter" pitchFamily="34" charset="-122"/>
                <a:cs typeface="Inter" pitchFamily="34" charset="-120"/>
              </a:rPr>
              <a:t>Goldman Sachs does not provide accounting, tax, or legal advice. Notwithstanding anything in this document to the contrary, and except as required to enable compliance with applicable securities law, you (and each of your employees, representatives, and other agents) may disclose to any and all persons the US federal income and state tax treatment and tax structure of the transaction and all materials of any kind (including tax opinions and other tax analyses) that are provided to you relating to such tax treatment and tax structure, without Goldman Sachs imposing any limitation of any kind.</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Raven - Discussion Materials</dc:title>
  <dc:subject>PptxGenJS Presentation</dc:subject>
  <dc:creator>PptxGenJS</dc:creator>
  <cp:lastModifiedBy>PptxGenJS</cp:lastModifiedBy>
  <cp:revision>1</cp:revision>
  <dcterms:created xsi:type="dcterms:W3CDTF">2026-03-25T11:08:03Z</dcterms:created>
  <dcterms:modified xsi:type="dcterms:W3CDTF">2026-03-25T11:08:03Z</dcterms:modified>
</cp:coreProperties>
</file>