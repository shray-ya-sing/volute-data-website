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bb8ccf98faf47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</p:sldIdLst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1.xml" Id="rI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/>
          <p:cNvSpPr>
            <a:spLocks xmlns:a="http://schemas.openxmlformats.org/drawingml/2006/main" noGrp="1"/>
          </p:cNvSpPr>
          <p:nvPr>
            <p:ph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5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Layouts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ccb7d5c2e85041ae" /><Relationship Type="http://schemas.openxmlformats.org/officeDocument/2006/relationships/chart" Target="/ppt/slides/charts/chart2.xml" Id="R8f62747c73034efb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Mgmt Plan</c:v>
                </c:pt>
              </c:strCache>
            </c:strRef>
          </c:tx>
          <c:marker>
            <c:symbol val="circle"/>
            <c:size val="4"/>
            <c:spPr>
              <a:solidFill>
                <a:srgbClr val="667EEA"/>
              </a:solidFill>
              <a:ln>
                <a:solidFill>
                  <a:srgbClr val="667EEA"/>
                </a:solidFill>
              </a:ln>
            </c:spPr>
          </c:marker>
          <c:spPr>
            <a:ln w="19050">
              <a:solidFill>
                <a:srgbClr val="667EEA"/>
              </a:solidFill>
            </a:ln>
          </c:spPr>
          <c:smooth val="0"/>
          <c:cat>
            <c:strRef>
              <c:f>Sheet1!$A$1</c:f>
              <c:strCache>
                <c:ptCount val="8"/>
                <c:pt idx="0">
                  <c:v>FY23A</c:v>
                </c:pt>
                <c:pt idx="1">
                  <c:v>FY24A</c:v>
                </c:pt>
                <c:pt idx="2">
                  <c:v>FY25E</c:v>
                </c:pt>
                <c:pt idx="3">
                  <c:v>FY26E</c:v>
                </c:pt>
                <c:pt idx="4">
                  <c:v>FY27E</c:v>
                </c:pt>
                <c:pt idx="5">
                  <c:v>FY28E</c:v>
                </c:pt>
                <c:pt idx="6">
                  <c:v>FY29E</c:v>
                </c:pt>
                <c:pt idx="7">
                  <c:v>FY30E</c:v>
                </c:pt>
              </c:strCache>
            </c:strRef>
          </c:cat>
          <c:val>
            <c:numRef>
              <c:f>Sheet1!$B$1</c:f>
              <c:numCache>
                <c:formatCode>General</c:formatCode>
                <c:ptCount val="8"/>
                <c:pt idx="0">
                  <c:v>1192</c:v>
                </c:pt>
                <c:pt idx="1">
                  <c:v>1217</c:v>
                </c:pt>
                <c:pt idx="2">
                  <c:v>1127</c:v>
                </c:pt>
                <c:pt idx="3">
                  <c:v>1236</c:v>
                </c:pt>
                <c:pt idx="4">
                  <c:v>1283</c:v>
                </c:pt>
                <c:pt idx="5">
                  <c:v>1472</c:v>
                </c:pt>
                <c:pt idx="6">
                  <c:v>1713</c:v>
                </c:pt>
                <c:pt idx="7">
                  <c:v>1974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Street Case</c:v>
                </c:pt>
              </c:strCache>
            </c:strRef>
          </c:tx>
          <c:marker>
            <c:symbol val="circle"/>
            <c:size val="4"/>
            <c:spPr>
              <a:solidFill>
                <a:srgbClr val="764BA2"/>
              </a:solidFill>
              <a:ln>
                <a:solidFill>
                  <a:srgbClr val="764BA2"/>
                </a:solidFill>
              </a:ln>
            </c:spPr>
          </c:marker>
          <c:spPr>
            <a:ln w="19050">
              <a:solidFill>
                <a:srgbClr val="764BA2"/>
              </a:solidFill>
            </a:ln>
          </c:spPr>
          <c:smooth val="0"/>
          <c:cat>
            <c:strRef>
              <c:f>Sheet1!$A$1</c:f>
              <c:strCache>
                <c:ptCount val="8"/>
                <c:pt idx="0">
                  <c:v>FY23A</c:v>
                </c:pt>
                <c:pt idx="1">
                  <c:v>FY24A</c:v>
                </c:pt>
                <c:pt idx="2">
                  <c:v>FY25E</c:v>
                </c:pt>
                <c:pt idx="3">
                  <c:v>FY26E</c:v>
                </c:pt>
                <c:pt idx="4">
                  <c:v>FY27E</c:v>
                </c:pt>
                <c:pt idx="5">
                  <c:v>FY28E</c:v>
                </c:pt>
                <c:pt idx="6">
                  <c:v>FY29E</c:v>
                </c:pt>
                <c:pt idx="7">
                  <c:v>FY30E</c:v>
                </c:pt>
              </c:strCache>
            </c:strRef>
          </c:cat>
          <c:val>
            <c:numRef>
              <c:f>Sheet1!$B$1</c:f>
              <c:numCache>
                <c:formatCode>General</c:formatCode>
                <c:ptCount val="8"/>
                <c:pt idx="0">
                  <c:v>1192</c:v>
                </c:pt>
                <c:pt idx="1">
                  <c:v>1217</c:v>
                </c:pt>
                <c:pt idx="2">
                  <c:v>1044</c:v>
                </c:pt>
                <c:pt idx="3">
                  <c:v>1127</c:v>
                </c:pt>
                <c:pt idx="4">
                  <c:v>1236</c:v>
                </c:pt>
                <c:pt idx="5">
                  <c:v>1394</c:v>
                </c:pt>
                <c:pt idx="6">
                  <c:v>1472</c:v>
                </c:pt>
                <c:pt idx="7">
                  <c:v>1713</c:v>
                </c:pt>
              </c:numCache>
            </c:numRef>
          </c:val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tickLblPos val="nextTo"/>
        <c:crossAx val="200"/>
        <c:crosses val="autoZero"/>
        <c:auto val="1"/>
        <c:lblAlgn val="ctr"/>
        <c:lblOffset val="100"/>
        <c:txPr>
          <a:bodyPr rot="0"/>
          <a:lstStyle/>
          <a:p>
            <a:r>
              <a:rPr lang="en-US" sz="700" dirty="1">
                <a:solidFill>
                  <a:srgbClr val="333333"/>
                </a:solidFill>
              </a:rPr>
              <a:t/>
            </a:r>
          </a:p>
        </c:txPr>
      </c:catAx>
      <c:valAx>
        <c:axId val="200"/>
        <c:scaling>
          <c:orientation val="minMax"/>
        </c:scaling>
        <c:delete val="0"/>
        <c:axPos val="l"/>
        <c:majorGridlines>
          <c:spPr>
            <a:noFill/>
            <a:ln>
              <a:noFill/>
            </a:ln>
          </c:spPr>
        </c:majorGridlines>
        <c:tickLblPos val="nextTo"/>
        <c:crossAx val="100"/>
        <c:crosses val="autoZero"/>
        <c:crossBetween val="between"/>
        <c:txPr>
          <a:bodyPr rot="0"/>
          <a:lstStyle/>
          <a:p>
            <a:r>
              <a:rPr lang="en-US" sz="700" dirty="1">
                <a:solidFill>
                  <a:srgbClr val="333333"/>
                </a:solidFill>
              </a:rPr>
              <a:t/>
            </a:r>
          </a:p>
        </c:txPr>
      </c:valAx>
    </c:plotArea>
    <c:legend>
      <c:legendPos val="b"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Mgmt Plan</c:v>
                </c:pt>
              </c:strCache>
            </c:strRef>
          </c:tx>
          <c:marker>
            <c:symbol val="circle"/>
            <c:size val="4"/>
            <c:spPr>
              <a:solidFill>
                <a:srgbClr val="667EEA"/>
              </a:solidFill>
              <a:ln>
                <a:solidFill>
                  <a:srgbClr val="667EEA"/>
                </a:solidFill>
              </a:ln>
            </c:spPr>
          </c:marker>
          <c:spPr>
            <a:ln w="19050">
              <a:solidFill>
                <a:srgbClr val="667EEA"/>
              </a:solidFill>
            </a:ln>
          </c:spPr>
          <c:smooth val="0"/>
          <c:cat>
            <c:strRef>
              <c:f>Sheet1!$A$1</c:f>
              <c:strCache>
                <c:ptCount val="8"/>
                <c:pt idx="0">
                  <c:v>FY23A</c:v>
                </c:pt>
                <c:pt idx="1">
                  <c:v>FY24A</c:v>
                </c:pt>
                <c:pt idx="2">
                  <c:v>FY25E</c:v>
                </c:pt>
                <c:pt idx="3">
                  <c:v>FY26E</c:v>
                </c:pt>
                <c:pt idx="4">
                  <c:v>FY27E</c:v>
                </c:pt>
                <c:pt idx="5">
                  <c:v>FY28E</c:v>
                </c:pt>
                <c:pt idx="6">
                  <c:v>FY29E</c:v>
                </c:pt>
                <c:pt idx="7">
                  <c:v>FY30E</c:v>
                </c:pt>
              </c:strCache>
            </c:strRef>
          </c:cat>
          <c:val>
            <c:numRef>
              <c:f>Sheet1!$B$1</c:f>
              <c:numCache>
                <c:formatCode>General</c:formatCode>
                <c:ptCount val="8"/>
                <c:pt idx="0">
                  <c:v>395</c:v>
                </c:pt>
                <c:pt idx="1">
                  <c:v>456</c:v>
                </c:pt>
                <c:pt idx="2">
                  <c:v>562</c:v>
                </c:pt>
                <c:pt idx="3">
                  <c:v>576</c:v>
                </c:pt>
                <c:pt idx="4">
                  <c:v>726</c:v>
                </c:pt>
                <c:pt idx="5">
                  <c:v>926</c:v>
                </c:pt>
                <c:pt idx="6">
                  <c:v>1147</c:v>
                </c:pt>
                <c:pt idx="7">
                  <c:v>1301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Street Case</c:v>
                </c:pt>
              </c:strCache>
            </c:strRef>
          </c:tx>
          <c:marker>
            <c:symbol val="circle"/>
            <c:size val="4"/>
            <c:spPr>
              <a:solidFill>
                <a:srgbClr val="764BA2"/>
              </a:solidFill>
              <a:ln>
                <a:solidFill>
                  <a:srgbClr val="764BA2"/>
                </a:solidFill>
              </a:ln>
            </c:spPr>
          </c:marker>
          <c:spPr>
            <a:ln w="19050">
              <a:solidFill>
                <a:srgbClr val="764BA2"/>
              </a:solidFill>
            </a:ln>
          </c:spPr>
          <c:smooth val="0"/>
          <c:cat>
            <c:strRef>
              <c:f>Sheet1!$A$1</c:f>
              <c:strCache>
                <c:ptCount val="5"/>
                <c:pt idx="0">
                  <c:v>FY23A</c:v>
                </c:pt>
                <c:pt idx="1">
                  <c:v>FY24A</c:v>
                </c:pt>
                <c:pt idx="2">
                  <c:v>FY25E</c:v>
                </c:pt>
                <c:pt idx="3">
                  <c:v>FY26E</c:v>
                </c:pt>
                <c:pt idx="4">
                  <c:v>FY27E</c:v>
                </c:pt>
              </c:strCache>
            </c:strRef>
          </c:cat>
          <c:val>
            <c:numRef>
              <c:f>Sheet1!$B$1</c:f>
              <c:numCache>
                <c:formatCode>General</c:formatCode>
                <c:ptCount val="5"/>
                <c:pt idx="0">
                  <c:v>395</c:v>
                </c:pt>
                <c:pt idx="1">
                  <c:v>456</c:v>
                </c:pt>
                <c:pt idx="2">
                  <c:v>521</c:v>
                </c:pt>
                <c:pt idx="3">
                  <c:v>510</c:v>
                </c:pt>
                <c:pt idx="4">
                  <c:v>650</c:v>
                </c:pt>
              </c:numCache>
            </c:numRef>
          </c:val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tickLblPos val="nextTo"/>
        <c:crossAx val="200"/>
        <c:crosses val="autoZero"/>
        <c:auto val="1"/>
        <c:lblAlgn val="ctr"/>
        <c:lblOffset val="100"/>
        <c:txPr>
          <a:bodyPr rot="0"/>
          <a:lstStyle/>
          <a:p>
            <a:r>
              <a:rPr lang="en-US" sz="700" dirty="1">
                <a:solidFill>
                  <a:srgbClr val="333333"/>
                </a:solidFill>
              </a:rPr>
              <a:t/>
            </a:r>
          </a:p>
        </c:txPr>
      </c:catAx>
      <c:valAx>
        <c:axId val="200"/>
        <c:scaling>
          <c:orientation val="minMax"/>
        </c:scaling>
        <c:delete val="0"/>
        <c:axPos val="l"/>
        <c:majorGridlines>
          <c:spPr>
            <a:noFill/>
            <a:ln>
              <a:noFill/>
            </a:ln>
          </c:spPr>
        </c:majorGridlines>
        <c:tickLblPos val="nextTo"/>
        <c:crossAx val="100"/>
        <c:crosses val="autoZero"/>
        <c:crossBetween val="between"/>
        <c:txPr>
          <a:bodyPr rot="0"/>
          <a:lstStyle/>
          <a:p>
            <a:r>
              <a:rPr lang="en-US" sz="700" dirty="1">
                <a:solidFill>
                  <a:srgbClr val="333333"/>
                </a:solidFill>
              </a:rPr>
              <a:t/>
            </a:r>
          </a:p>
        </c:txPr>
      </c:valAx>
    </c:plotArea>
    <c:plotVisOnly val="1"/>
  </c:chart>
</c:chartSpace>
</file>

<file path=ppt/slides/slide1.xml><?xml version="1.0" encoding="utf-8"?>
<p:sld xmlns:p="http://schemas.openxmlformats.org/presentationml/2006/main">
  <p:bg>
    <p:bgPr>
      <a:noFill xmlns:a="http://schemas.openxmlformats.org/drawingml/2006/main"/>
    </p:bgPr>
  </p:bg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200" b="1" dirty="1">
                <a:solidFill>
                  <a:srgbClr val="FFFFFF"/>
                </a:solidFill>
              </a:rPr>
              <a:t>Alpha Management Plan vs. Street</a:t>
            </a:r>
            <a:endParaRPr lang="en-US"/>
          </a:p>
        </p:txBody>
      </p:sp>
      <p:sp>
        <p:nvSpPr>
          <p:cNvPr id="4" name="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333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00" b="1" dirty="1">
                <a:solidFill>
                  <a:srgbClr val="FFFFFF"/>
                </a:solidFill>
              </a:rPr>
              <a:t>● Mgmt Plan</a:t>
            </a:r>
            <a:endParaRPr lang="en-US"/>
          </a:p>
        </p:txBody>
      </p:sp>
      <p:sp>
        <p:nvSpPr>
          <p:cNvPr id="6" name="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33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00" b="1" dirty="1">
                <a:solidFill>
                  <a:srgbClr val="764BA2"/>
                </a:solidFill>
              </a:rPr>
              <a:t>●</a:t>
            </a:r>
            <a:r>
              <a:rPr lang="en-US" sz="1300" b="1" dirty="1">
                <a:solidFill>
                  <a:srgbClr val="FFFFFF"/>
                </a:solidFill>
              </a:rPr>
              <a:t> Street Case</a:t>
            </a:r>
            <a:endParaRPr lang="en-US"/>
          </a:p>
        </p:txBody>
      </p:sp>
      <p:sp>
        <p:nvSpPr>
          <p:cNvPr id="7" name="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24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8" name="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19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900" b="1" dirty="1">
                <a:solidFill>
                  <a:srgbClr val="FFFFFF"/>
                </a:solidFill>
              </a:rPr>
              <a:t>Revenue ($MM)</a:t>
            </a:r>
            <a:endParaRPr lang="en-US"/>
          </a:p>
        </p:txBody>
      </p:sp>
      <p:sp>
        <p:nvSpPr>
          <p:cNvPr id="9" name="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00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00" b="1" dirty="1">
                <a:solidFill>
                  <a:srgbClr val="333333"/>
                </a:solidFill>
              </a:rPr>
              <a:t>FY24A–FY30E CAGR:</a:t>
            </a:r>
            <a:endParaRPr lang="en-US"/>
          </a:p>
          <a:p xmlns:a="http://schemas.openxmlformats.org/drawingml/2006/main">
            <a:pPr algn="l"/>
            <a:r>
              <a:rPr lang="en-US" sz="1300" dirty="1">
                <a:solidFill>
                  <a:srgbClr val="333333"/>
                </a:solidFill>
              </a:rPr>
              <a:t>Mgmt Plan: 12% | Street (FY27E): 7%</a:t>
            </a:r>
            <a:endParaRPr lang="en-US"/>
          </a:p>
        </p:txBody>
      </p:sp>
      <p:graphicFrame>
        <p:nvGraphicFramePr>
          <p:cNvPr id="10" name="9"/>
          <p:cNvGraphicFramePr/>
          <p:nvPr/>
        </p:nvGraphicFramePr>
        <p:xfrm>
          <a:off xmlns:a="http://schemas.openxmlformats.org/drawingml/2006/main" x="190500" y="1095375"/>
          <a:ext xmlns:a="http://schemas.openxmlformats.org/drawingml/2006/main" cx="42862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b7d5c2e85041ae"/>
          </a:graphicData>
        </a:graphic>
      </p:graphicFrame>
      <p:sp>
        <p:nvSpPr>
          <p:cNvPr id="11" name="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24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2" name="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9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900" b="1" dirty="1">
                <a:solidFill>
                  <a:srgbClr val="FFFFFF"/>
                </a:solidFill>
              </a:rPr>
              <a:t>Non-GAAP Operating Income ($MM)</a:t>
            </a:r>
            <a:endParaRPr lang="en-US"/>
          </a:p>
        </p:txBody>
      </p:sp>
      <p:sp>
        <p:nvSpPr>
          <p:cNvPr id="13" name="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00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00" b="1" dirty="1">
                <a:solidFill>
                  <a:srgbClr val="333333"/>
                </a:solidFill>
              </a:rPr>
              <a:t>FY24A–FY30E CAGR:</a:t>
            </a:r>
            <a:endParaRPr lang="en-US"/>
          </a:p>
          <a:p xmlns:a="http://schemas.openxmlformats.org/drawingml/2006/main">
            <a:pPr algn="l"/>
            <a:r>
              <a:rPr lang="en-US" sz="1300" dirty="1">
                <a:solidFill>
                  <a:srgbClr val="333333"/>
                </a:solidFill>
              </a:rPr>
              <a:t>Mgmt Plan: 19% | Street (FY27E): 13%</a:t>
            </a:r>
            <a:endParaRPr lang="en-US"/>
          </a:p>
        </p:txBody>
      </p:sp>
      <p:graphicFrame>
        <p:nvGraphicFramePr>
          <p:cNvPr id="14" name="13"/>
          <p:cNvGraphicFramePr/>
          <p:nvPr/>
        </p:nvGraphicFramePr>
        <p:xfrm>
          <a:off xmlns:a="http://schemas.openxmlformats.org/drawingml/2006/main" x="4667250" y="1095375"/>
          <a:ext xmlns:a="http://schemas.openxmlformats.org/drawingml/2006/main" cx="42862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62747c73034efb"/>
          </a:graphicData>
        </a:graphic>
      </p:graphicFrame>
      <p:sp>
        <p:nvSpPr>
          <p:cNvPr id="15" name="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098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6" name="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76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300" b="1" dirty="1">
                <a:solidFill>
                  <a:srgbClr val="000000"/>
                </a:solidFill>
              </a:rPr>
              <a:t>Key Financial Summary — Mgmt Plan vs. Street</a:t>
            </a:r>
            <a:endParaRPr lang="en-US"/>
          </a:p>
        </p:txBody>
      </p:sp>
      <p:graphicFrame>
        <p:nvGraphicFramePr>
          <p:cNvPr id="17" name="16"/>
          <p:cNvGraphicFramePr/>
          <p:nvPr/>
        </p:nvGraphicFramePr>
        <p:xfrm>
          <a:off xmlns:a="http://schemas.openxmlformats.org/drawingml/2006/main" x="190500" y="3124200"/>
          <a:ext xmlns:a="http://schemas.openxmlformats.org/drawingml/2006/main" cx="8763000" cy="1714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973667"/>
                <a:gridCol w="973667"/>
                <a:gridCol w="973667"/>
                <a:gridCol w="973667"/>
                <a:gridCol w="973667"/>
                <a:gridCol w="973667"/>
                <a:gridCol w="973667"/>
                <a:gridCol w="973667"/>
                <a:gridCol w="973667"/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FFFFFF"/>
                          </a:solidFill>
                        </a:rPr>
                        <a:t>FY23A</a:t>
                      </a:r>
                      <a:endParaRPr lang="en-US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FFFFFF"/>
                          </a:solidFill>
                        </a:rPr>
                        <a:t>FY24A</a:t>
                      </a:r>
                      <a:endParaRPr lang="en-US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FFFFFF"/>
                          </a:solidFill>
                        </a:rPr>
                        <a:t>FY25E (M)</a:t>
                      </a:r>
                      <a:endParaRPr lang="en-US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FFFFFF"/>
                          </a:solidFill>
                        </a:rPr>
                        <a:t>FY25E (S)</a:t>
                      </a:r>
                      <a:endParaRPr lang="en-US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FFFFFF"/>
                          </a:solidFill>
                        </a:rPr>
                        <a:t>FY27E (M)</a:t>
                      </a:r>
                      <a:endParaRPr lang="en-US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FFFFFF"/>
                          </a:solidFill>
                        </a:rPr>
                        <a:t>FY27E (S)</a:t>
                      </a:r>
                      <a:endParaRPr lang="en-US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FFFFFF"/>
                          </a:solidFill>
                        </a:rPr>
                        <a:t>FY30E (M)</a:t>
                      </a:r>
                      <a:endParaRPr lang="en-US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FFFFFF"/>
                          </a:solidFill>
                        </a:rPr>
                        <a:t>CAGR</a:t>
                      </a:r>
                      <a:endParaRPr lang="en-US"/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1">
                          <a:solidFill>
                            <a:srgbClr val="333333"/>
                          </a:solidFill>
                        </a:rPr>
                        <a:t>ACV ($MM)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$885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$1,035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$1,156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$1,109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$1,469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$1,299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$1,898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667EEA"/>
                          </a:solidFill>
                        </a:rPr>
                        <a:t>13%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1">
                          <a:solidFill>
                            <a:srgbClr val="333333"/>
                          </a:solidFill>
                        </a:rPr>
                        <a:t>Revenue ($MM)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$1,192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$1,217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$1,127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$1,044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$1,283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$1,236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$1,974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667EEA"/>
                          </a:solidFill>
                        </a:rPr>
                        <a:t>12%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1">
                          <a:solidFill>
                            <a:srgbClr val="333333"/>
                          </a:solidFill>
                        </a:rPr>
                        <a:t>Non-GAAP Op. Inc.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$395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$456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$562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$521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$726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$650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$1,301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667EEA"/>
                          </a:solidFill>
                        </a:rPr>
                        <a:t>19%</a:t>
                      </a:r>
                      <a:endParaRPr lang="en-US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1">
                          <a:solidFill>
                            <a:srgbClr val="333333"/>
                          </a:solidFill>
                        </a:rPr>
                        <a:t>Levered FCF ($MM)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$306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$336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$360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$342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$501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$477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1">
                          <a:solidFill>
                            <a:srgbClr val="333333"/>
                          </a:solidFill>
                        </a:rPr>
                        <a:t>$834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1">
                          <a:solidFill>
                            <a:srgbClr val="667EEA"/>
                          </a:solidFill>
                        </a:rPr>
                        <a:t>16%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244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00" dirty="1">
                <a:solidFill>
                  <a:srgbClr val="333333"/>
                </a:solidFill>
              </a:rPr>
              <a:t>⚠ Revenue and profitability metrics are impacted by timing of bookings. (M) = Mgmt, (S) = Street.</a:t>
            </a:r>
            <a:endParaRPr lang="en-US"/>
          </a:p>
        </p:txBody>
      </p:sp>
      <p:sp>
        <p:nvSpPr>
          <p:cNvPr id="20" name="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 dirty="1">
                <a:solidFill>
                  <a:srgbClr val="9CA3AF"/>
                </a:solidFill>
              </a:rPr>
              <a:t>Source: Alpha company filings, Management Plan, Wall Street estimates</a:t>
            </a:r>
            <a:endParaRPr lang="en-US"/>
          </a:p>
        </p:txBody>
      </p:sp>
      <p:sp>
        <p:nvSpPr>
          <p:cNvPr id="21" name="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911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dirty="1">
                <a:solidFill>
                  <a:srgbClr val="9CA3AF"/>
                </a:solidFill>
              </a:rPr>
              <a:t>CONFIDENTIAL | DRAFT</a:t>
            </a:r>
            <a:endParaRPr lang="en-US"/>
          </a:p>
        </p:txBody>
      </p:sp>
      <p:sp>
        <p:nvSpPr>
          <p:cNvPr id="22" name="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14925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>
</file>