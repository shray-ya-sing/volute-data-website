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Override PartName="/ppt/slides/slide1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Masters/slideMaster1.xml" ContentType="application/vnd.openxmlformats-officedocument.presentationml.slideMaster+xml"/>
  <Override PartName="/ppt/slideLayouts/slideMasters/theme/theme1.xml" ContentType="application/vnd.openxmlformats-officedocument.them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977d47875e384eb5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Id1"/>
  </p:sldMasterIdLst>
  <p:sldIdLst>
    <p:sldId xmlns:r="http://schemas.openxmlformats.org/officeDocument/2006/relationships" id="256" r:id="rId2"/>
  </p:sldIdLst>
  <p:sldSz cx="9144000" cy="5143500" type="screen16x9"/>
  <p:notesSz cx="6858000" cy="9144000"/>
  <p:defaultTextStyle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" Target="/ppt/slides/slide1.xml" Id="rId2" /><Relationship Type="http://schemas.openxmlformats.org/officeDocument/2006/relationships/slideMaster" Target="/ppt/slideLayouts/slideMasters/slideMaster1.xml" Id="rId1" /><Relationship Type="http://schemas.openxmlformats.org/officeDocument/2006/relationships/theme" Target="/ppt/slideLayouts/slideMasters/theme/theme1.xml" Id="rId5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Layouts/slideMasters/slideMaster1.xml" Id="rId1" /></Relationships>
</file>

<file path=ppt/slideLayouts/slideLayout1.xml><?xml version="1.0" encoding="utf-8"?>
<p:sldLayout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/>
          <p:cNvSpPr>
            <a:spLocks xmlns:a="http://schemas.openxmlformats.org/drawingml/2006/main" noGrp="1"/>
          </p:cNvSpPr>
          <p:nvPr>
            <p:ph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</p:spTree>
  </p:cSld>
  <p:clrMapOvr>
    <a:masterClrMapping xmlns:a="http://schemas.openxmlformats.org/drawingml/2006/main"/>
  </p:clrMapOvr>
</p:sldLayout>
</file>

<file path=ppt/slideLayouts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Layouts/slideMasters/theme/theme1.xml" Id="rId5" /><Relationship Type="http://schemas.openxmlformats.org/officeDocument/2006/relationships/slideLayout" Target="/ppt/slideLayouts/slideLayout1.xml" Id="rId1" /></Relationships>
</file>

<file path=ppt/slideLayouts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1"/>
  </p:sldLayoutIdLst>
  <p:txStyles>
    <p:titleStyle/>
    <p:bodyStyle/>
    <p:otherStyle/>
  </p:txStyles>
</p:sldMaster>
</file>

<file path=ppt/slideLayouts/slideMasters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noFill/>
        <a:pattFill/>
        <a:grpFill/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0">
              <a:schemeClr val="phClr">
                <a:tint val="50000"/>
                <a:satMod val="300000"/>
              </a:schemeClr>
            </a:gs>
            <a:gs pos="0">
              <a:schemeClr val="phClr">
                <a:tint val="50000"/>
                <a:satMod val="300000"/>
              </a:schemeClr>
            </a:gs>
          </a:gsLst>
          <a:lin ang="16200000" scaled="1"/>
        </a:gradFill>
        <a:gradFill>
          <a:gsLst>
            <a:gs pos="0">
              <a:schemeClr val="phClr">
                <a:tint val="50000"/>
                <a:satMod val="300000"/>
              </a:schemeClr>
            </a:gs>
            <a:gs pos="0">
              <a:schemeClr val="phClr">
                <a:tint val="50000"/>
                <a:satMod val="300000"/>
              </a:schemeClr>
            </a:gs>
          </a:gsLst>
          <a:lin ang="16200000" scaled="1"/>
        </a:gradFill>
      </a:bgFillStyleLst>
    </a:fmtScheme>
  </a:themeElements>
  <a:objectDefaults/>
  <a:extraClrSchemeLst/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1" /></Relationships>
</file>

<file path=ppt/slides/slide1.xml><?xml version="1.0" encoding="utf-8"?>
<p:sld xmlns:p="http://schemas.openxmlformats.org/presentationml/2006/main">
  <p:bg>
    <p:bgPr>
      <a:noFill xmlns:a="http://schemas.openxmlformats.org/drawingml/2006/main"/>
    </p:bgPr>
  </p:bg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confidential-notic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2100" dirty="1">
                <a:solidFill>
                  <a:srgbClr val="000000"/>
                </a:solidFill>
              </a:rPr>
              <a:t>STRICTLY CONFIDENTIAL</a:t>
            </a:r>
            <a:endParaRPr lang="en-US"/>
          </a:p>
        </p:txBody>
      </p:sp>
      <p:sp>
        <p:nvSpPr>
          <p:cNvPr id="3" name="oracle-logo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9550"/>
            <a:ext cx="17145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2100" dirty="1">
                <a:solidFill>
                  <a:srgbClr val="000000"/>
                </a:solidFill>
              </a:rPr>
              <a:t>ORACLE</a:t>
            </a:r>
            <a:endParaRPr lang="en-US"/>
          </a:p>
        </p:txBody>
      </p:sp>
      <p:sp>
        <p:nvSpPr>
          <p:cNvPr id="4" name="divider-lin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924050"/>
            <a:ext cx="914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2100" dirty="1">
                <a:solidFill>
                  <a:srgbClr val="000000"/>
                </a:solidFill>
              </a:rPr>
              <a:t>MOELIS &amp; COMPANY</a:t>
            </a:r>
            <a:endParaRPr lang="en-US"/>
          </a:p>
        </p:txBody>
      </p:sp>
      <p:sp>
        <p:nvSpPr>
          <p:cNvPr id="5" name="moelis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924050"/>
            <a:ext cx="914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2100" dirty="1">
                <a:solidFill>
                  <a:srgbClr val="000000"/>
                </a:solidFill>
              </a:rPr>
              <a:t>MOELIS &amp; COMPANY</a:t>
            </a:r>
            <a:endParaRPr lang="en-US"/>
          </a:p>
        </p:txBody>
      </p:sp>
      <p:sp>
        <p:nvSpPr>
          <p:cNvPr id="6" name="titl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133600"/>
            <a:ext cx="9144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4200" b="1" dirty="1">
                <a:solidFill>
                  <a:srgbClr val="000000"/>
                </a:solidFill>
              </a:rPr>
              <a:t>Presentation to the Special Committee of the Board of Directors</a:t>
            </a:r>
            <a:endParaRPr lang="en-US"/>
          </a:p>
        </p:txBody>
      </p:sp>
      <p:sp>
        <p:nvSpPr>
          <p:cNvPr id="7" name="dat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952750"/>
            <a:ext cx="914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anchor="t">
            <a:noAutofit/>
          </a:bodyPr>
          <a:lstStyle xmlns:a="http://schemas.openxmlformats.org/drawingml/2006/main"/>
          <a:p xmlns:a="http://schemas.openxmlformats.org/drawingml/2006/main">
            <a:pPr algn="l"/>
            <a:r>
              <a:rPr lang="en-US" sz="2100" dirty="1">
                <a:solidFill>
                  <a:srgbClr val="000000"/>
                </a:solidFill>
              </a:rPr>
              <a:t>April 19, 2016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