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($M)</c:v>
                </c:pt>
              </c:strCache>
            </c:strRef>
          </c:tx>
          <c:spPr>
            <a:solidFill>
              <a:srgbClr val="1D4E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1D2D3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8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4E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  <c:pt idx="3">
                    <c:v>FY2025E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7200</c:v>
                </c:pt>
                <c:pt idx="1">
                  <c:v>8900</c:v>
                </c:pt>
                <c:pt idx="2">
                  <c:v>10072</c:v>
                </c:pt>
                <c:pt idx="3">
                  <c:v>13200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1D2D3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533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95280"/>
            <a:ext cx="5715000" cy="32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BrightSpring Health Services — Company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95330"/>
            <a:ext cx="9144000" cy="2095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523860"/>
            <a:ext cx="476247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NASDAQ: BTSG  |  Louisville, Kentucky  |  CEO: Jon Rousseau  |  Founded: ~1974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228600" y="790590"/>
            <a:ext cx="323853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28600" y="943021"/>
            <a:ext cx="3238530" cy="1902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00171"/>
            <a:ext cx="32385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provider of home- and community-based healthcare and pharmacy services for complex, high-need populations across all 50 U.S. states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" y="1274491"/>
            <a:ext cx="32385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through two segments: </a:t>
            </a:r>
            <a:pPr indent="0" marL="0">
              <a:buNone/>
            </a:pPr>
            <a:r>
              <a:rPr lang="en-US" sz="7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Solutions</a:t>
            </a:r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7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Services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8600" y="1548811"/>
            <a:ext cx="32385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individuals with disabilities, seniors, and patients with complex medical needs in lower-cost, preferred care settings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8600" y="1823131"/>
            <a:ext cx="32385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raised </a:t>
            </a:r>
            <a:pPr indent="0" marL="0">
              <a:buNone/>
            </a:pPr>
            <a:r>
              <a:rPr lang="en-US" sz="7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$880M</a:t>
            </a:r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January 2024; YTD stock return ~111% at time of coverage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28600" y="2097451"/>
            <a:ext cx="32385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consensus price target ~$41.93/share; Q3 2025 profitability turnaround with net income of $55.8M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28600" y="3028950"/>
            <a:ext cx="323853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SEGMENTS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28600" y="3181380"/>
            <a:ext cx="3238530" cy="1902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" y="3238530"/>
            <a:ext cx="1562070" cy="76197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6" name="Text 14"/>
          <p:cNvSpPr/>
          <p:nvPr/>
        </p:nvSpPr>
        <p:spPr>
          <a:xfrm>
            <a:off x="285750" y="3314700"/>
            <a:ext cx="1447770" cy="609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Solutions
</a:t>
            </a:r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&amp; institutional pharmacy; includes PharMerica and Onco360 (oncology); national pharmacy partner for cancer/rare disease drugs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885950" y="3238530"/>
            <a:ext cx="1562070" cy="76197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1943100" y="3314700"/>
            <a:ext cx="1447770" cy="609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Services
</a:t>
            </a:r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health, hospice, and community-based behavioral &amp; personal care across all 50 states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28600" y="4114800"/>
            <a:ext cx="323853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HIGHLIGHTS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28600" y="4267230"/>
            <a:ext cx="3238530" cy="1902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4305270"/>
            <a:ext cx="32385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full-year 2025 revenue and Adj. EBITDA guidance; Acquired Advanced Home Care (2020) and Haven Hospice (2024)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28600" y="4579590"/>
            <a:ext cx="32385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Ownership: ~48% private equity; ~20% public companies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581430" y="704820"/>
            <a:ext cx="9510" cy="4324380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4" name="Text 22"/>
          <p:cNvSpPr/>
          <p:nvPr/>
        </p:nvSpPr>
        <p:spPr>
          <a:xfrm>
            <a:off x="3714750" y="790590"/>
            <a:ext cx="533397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FINANCIALS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14750" y="943021"/>
            <a:ext cx="5333970" cy="1902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26" name="Shape 24"/>
          <p:cNvSpPr/>
          <p:nvPr/>
        </p:nvSpPr>
        <p:spPr>
          <a:xfrm>
            <a:off x="3714750" y="1000171"/>
            <a:ext cx="5333970" cy="20958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27" name="Text 25"/>
          <p:cNvSpPr/>
          <p:nvPr/>
        </p:nvSpPr>
        <p:spPr>
          <a:xfrm>
            <a:off x="3771900" y="1028700"/>
            <a:ext cx="190497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 in millions)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191220" y="1028700"/>
            <a:ext cx="123828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FY2024A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7619970" y="1028700"/>
            <a:ext cx="133347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714750" y="1209660"/>
            <a:ext cx="5333970" cy="209580"/>
          </a:xfrm>
          <a:prstGeom prst="rect">
            <a:avLst/>
          </a:prstGeom>
          <a:solidFill>
            <a:srgbClr val="EFF7FC"/>
          </a:solidFill>
          <a:ln/>
        </p:spPr>
      </p:sp>
      <p:sp>
        <p:nvSpPr>
          <p:cNvPr id="31" name="Text 29"/>
          <p:cNvSpPr/>
          <p:nvPr/>
        </p:nvSpPr>
        <p:spPr>
          <a:xfrm>
            <a:off x="3771900" y="1247790"/>
            <a:ext cx="238128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191220" y="1247790"/>
            <a:ext cx="123828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$10,072M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7619970" y="1247790"/>
            <a:ext cx="133347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$3,330M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714750" y="1438260"/>
            <a:ext cx="5333970" cy="209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771900" y="1476390"/>
            <a:ext cx="238128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191220" y="1476390"/>
            <a:ext cx="123828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$1,266M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7619970" y="1476390"/>
            <a:ext cx="133347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714750" y="1666860"/>
            <a:ext cx="5333970" cy="209580"/>
          </a:xfrm>
          <a:prstGeom prst="rect">
            <a:avLst/>
          </a:prstGeom>
          <a:solidFill>
            <a:srgbClr val="EFF7FC"/>
          </a:solidFill>
          <a:ln/>
        </p:spPr>
      </p:sp>
      <p:sp>
        <p:nvSpPr>
          <p:cNvPr id="39" name="Text 37"/>
          <p:cNvSpPr/>
          <p:nvPr/>
        </p:nvSpPr>
        <p:spPr>
          <a:xfrm>
            <a:off x="3771900" y="1704990"/>
            <a:ext cx="238128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EBITDA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191220" y="1704990"/>
            <a:ext cx="123828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$460M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619970" y="1704990"/>
            <a:ext cx="133347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714750" y="1895460"/>
            <a:ext cx="5333970" cy="209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771900" y="1933590"/>
            <a:ext cx="238128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(Loss)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191220" y="1933590"/>
            <a:ext cx="123828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($68.9M)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619970" y="1933590"/>
            <a:ext cx="133347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$55.8M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714750" y="2171700"/>
            <a:ext cx="257175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GROWTH ($M)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714750" y="2324130"/>
            <a:ext cx="2571750" cy="19020"/>
          </a:xfrm>
          <a:prstGeom prst="rect">
            <a:avLst/>
          </a:prstGeom>
          <a:solidFill>
            <a:srgbClr val="1D4E89"/>
          </a:solidFill>
          <a:ln/>
        </p:spPr>
      </p:sp>
      <p:graphicFrame>
        <p:nvGraphicFramePr>
          <p:cNvPr id="48" name="Chart 0" descr=""/>
          <p:cNvGraphicFramePr/>
          <p:nvPr/>
        </p:nvGraphicFramePr>
        <p:xfrm>
          <a:off x="3657600" y="2362170"/>
          <a:ext cx="2647920" cy="20955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9" name="Text 46"/>
          <p:cNvSpPr/>
          <p:nvPr/>
        </p:nvSpPr>
        <p:spPr>
          <a:xfrm>
            <a:off x="6419820" y="2171700"/>
            <a:ext cx="262890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SUMMARY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6419820" y="2324130"/>
            <a:ext cx="2628900" cy="1902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51" name="Shape 48"/>
          <p:cNvSpPr/>
          <p:nvPr/>
        </p:nvSpPr>
        <p:spPr>
          <a:xfrm>
            <a:off x="6419820" y="2381280"/>
            <a:ext cx="2628900" cy="228600"/>
          </a:xfrm>
          <a:prstGeom prst="rect">
            <a:avLst/>
          </a:prstGeom>
          <a:solidFill>
            <a:srgbClr val="EFF7FC"/>
          </a:solidFill>
          <a:ln/>
        </p:spPr>
      </p:sp>
      <p:sp>
        <p:nvSpPr>
          <p:cNvPr id="52" name="Text 49"/>
          <p:cNvSpPr/>
          <p:nvPr/>
        </p:nvSpPr>
        <p:spPr>
          <a:xfrm>
            <a:off x="6457950" y="2428921"/>
            <a:ext cx="171450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Share Price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8172450" y="2428921"/>
            <a:ext cx="83823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~$19.50</a:t>
            </a:r>
            <a:endParaRPr lang="en-US" sz="600" dirty="0"/>
          </a:p>
        </p:txBody>
      </p:sp>
      <p:sp>
        <p:nvSpPr>
          <p:cNvPr id="54" name="Shape 51"/>
          <p:cNvSpPr/>
          <p:nvPr/>
        </p:nvSpPr>
        <p:spPr>
          <a:xfrm>
            <a:off x="6419820" y="2628900"/>
            <a:ext cx="26289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6457950" y="2676540"/>
            <a:ext cx="171450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Price Target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8172450" y="2676540"/>
            <a:ext cx="83823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~$41.93</a:t>
            </a:r>
            <a:endParaRPr lang="en-US" sz="600" dirty="0"/>
          </a:p>
        </p:txBody>
      </p:sp>
      <p:sp>
        <p:nvSpPr>
          <p:cNvPr id="57" name="Shape 54"/>
          <p:cNvSpPr/>
          <p:nvPr/>
        </p:nvSpPr>
        <p:spPr>
          <a:xfrm>
            <a:off x="6419820" y="2876520"/>
            <a:ext cx="2628900" cy="228600"/>
          </a:xfrm>
          <a:prstGeom prst="rect">
            <a:avLst/>
          </a:prstGeom>
          <a:solidFill>
            <a:srgbClr val="EFF7FC"/>
          </a:solidFill>
          <a:ln/>
        </p:spPr>
      </p:sp>
      <p:sp>
        <p:nvSpPr>
          <p:cNvPr id="58" name="Text 55"/>
          <p:cNvSpPr/>
          <p:nvPr/>
        </p:nvSpPr>
        <p:spPr>
          <a:xfrm>
            <a:off x="6457950" y="2924160"/>
            <a:ext cx="171450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Capitalization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8172450" y="2924160"/>
            <a:ext cx="83823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~$3.2B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6419820" y="3124230"/>
            <a:ext cx="26289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/>
          <p:nvPr/>
        </p:nvSpPr>
        <p:spPr>
          <a:xfrm>
            <a:off x="6457950" y="3171871"/>
            <a:ext cx="171450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Price (Jan 2024)</a:t>
            </a:r>
            <a:endParaRPr lang="en-US" sz="600" dirty="0"/>
          </a:p>
        </p:txBody>
      </p:sp>
      <p:sp>
        <p:nvSpPr>
          <p:cNvPr id="62" name="Text 59"/>
          <p:cNvSpPr/>
          <p:nvPr/>
        </p:nvSpPr>
        <p:spPr>
          <a:xfrm>
            <a:off x="8172450" y="3171871"/>
            <a:ext cx="83823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$15–$18</a:t>
            </a:r>
            <a:endParaRPr lang="en-US" sz="600" dirty="0"/>
          </a:p>
        </p:txBody>
      </p:sp>
      <p:sp>
        <p:nvSpPr>
          <p:cNvPr id="63" name="Shape 60"/>
          <p:cNvSpPr/>
          <p:nvPr/>
        </p:nvSpPr>
        <p:spPr>
          <a:xfrm>
            <a:off x="6419820" y="3371850"/>
            <a:ext cx="2628900" cy="228600"/>
          </a:xfrm>
          <a:prstGeom prst="rect">
            <a:avLst/>
          </a:prstGeom>
          <a:solidFill>
            <a:srgbClr val="EFF7FC"/>
          </a:solidFill>
          <a:ln/>
        </p:spPr>
      </p:sp>
      <p:sp>
        <p:nvSpPr>
          <p:cNvPr id="64" name="Text 61"/>
          <p:cNvSpPr/>
          <p:nvPr/>
        </p:nvSpPr>
        <p:spPr>
          <a:xfrm>
            <a:off x="6457950" y="3419490"/>
            <a:ext cx="171450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Proceeds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8172450" y="3419490"/>
            <a:ext cx="83823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$880M</a:t>
            </a:r>
            <a:endParaRPr lang="en-US" sz="600" dirty="0"/>
          </a:p>
        </p:txBody>
      </p:sp>
      <p:sp>
        <p:nvSpPr>
          <p:cNvPr id="66" name="Shape 63"/>
          <p:cNvSpPr/>
          <p:nvPr/>
        </p:nvSpPr>
        <p:spPr>
          <a:xfrm>
            <a:off x="6419820" y="3619470"/>
            <a:ext cx="26289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/>
          <p:nvPr/>
        </p:nvSpPr>
        <p:spPr>
          <a:xfrm>
            <a:off x="6457950" y="3667110"/>
            <a:ext cx="171450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Stock Return</a:t>
            </a:r>
            <a:endParaRPr lang="en-US" sz="600" dirty="0"/>
          </a:p>
        </p:txBody>
      </p:sp>
      <p:sp>
        <p:nvSpPr>
          <p:cNvPr id="68" name="Text 65"/>
          <p:cNvSpPr/>
          <p:nvPr/>
        </p:nvSpPr>
        <p:spPr>
          <a:xfrm>
            <a:off x="8172450" y="3667110"/>
            <a:ext cx="83823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~+111%</a:t>
            </a:r>
            <a:endParaRPr lang="en-US" sz="600" dirty="0"/>
          </a:p>
        </p:txBody>
      </p:sp>
      <p:sp>
        <p:nvSpPr>
          <p:cNvPr id="69" name="Shape 66"/>
          <p:cNvSpPr/>
          <p:nvPr/>
        </p:nvSpPr>
        <p:spPr>
          <a:xfrm>
            <a:off x="6419820" y="3867180"/>
            <a:ext cx="2628900" cy="228600"/>
          </a:xfrm>
          <a:prstGeom prst="rect">
            <a:avLst/>
          </a:prstGeom>
          <a:solidFill>
            <a:srgbClr val="EFF7FC"/>
          </a:solidFill>
          <a:ln/>
        </p:spPr>
      </p:sp>
      <p:sp>
        <p:nvSpPr>
          <p:cNvPr id="70" name="Text 67"/>
          <p:cNvSpPr/>
          <p:nvPr/>
        </p:nvSpPr>
        <p:spPr>
          <a:xfrm>
            <a:off x="6457950" y="3914821"/>
            <a:ext cx="171450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Ownership: PE Firms</a:t>
            </a:r>
            <a:endParaRPr lang="en-US" sz="600" dirty="0"/>
          </a:p>
        </p:txBody>
      </p:sp>
      <p:sp>
        <p:nvSpPr>
          <p:cNvPr id="71" name="Text 68"/>
          <p:cNvSpPr/>
          <p:nvPr/>
        </p:nvSpPr>
        <p:spPr>
          <a:xfrm>
            <a:off x="8172450" y="3914821"/>
            <a:ext cx="83823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~48%</a:t>
            </a:r>
            <a:endParaRPr lang="en-US" sz="600" dirty="0"/>
          </a:p>
        </p:txBody>
      </p:sp>
      <p:sp>
        <p:nvSpPr>
          <p:cNvPr id="72" name="Shape 69"/>
          <p:cNvSpPr/>
          <p:nvPr/>
        </p:nvSpPr>
        <p:spPr>
          <a:xfrm>
            <a:off x="6419820" y="4114800"/>
            <a:ext cx="26289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0"/>
          <p:cNvSpPr/>
          <p:nvPr/>
        </p:nvSpPr>
        <p:spPr>
          <a:xfrm>
            <a:off x="6457950" y="4162440"/>
            <a:ext cx="171450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Ownership: Public Cos.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8172450" y="4162440"/>
            <a:ext cx="83823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600" dirty="0"/>
          </a:p>
        </p:txBody>
      </p:sp>
      <p:sp>
        <p:nvSpPr>
          <p:cNvPr id="75" name="Shape 72"/>
          <p:cNvSpPr/>
          <p:nvPr/>
        </p:nvSpPr>
        <p:spPr>
          <a:xfrm>
            <a:off x="0" y="4953030"/>
            <a:ext cx="9144000" cy="19047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76" name="Text 73"/>
          <p:cNvSpPr/>
          <p:nvPr/>
        </p:nvSpPr>
        <p:spPr>
          <a:xfrm>
            <a:off x="228600" y="4991070"/>
            <a:ext cx="6667530" cy="13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stocktitan.net, renaissancecapital.com, finance.yahoo.com  |  Note: FY2025E revenue estimate is analyst consensus projection. All figures approximate.</a:t>
            </a:r>
            <a:endParaRPr lang="en-US" sz="500" dirty="0"/>
          </a:p>
        </p:txBody>
      </p:sp>
      <p:sp>
        <p:nvSpPr>
          <p:cNvPr id="77" name="Text 74"/>
          <p:cNvSpPr/>
          <p:nvPr/>
        </p:nvSpPr>
        <p:spPr>
          <a:xfrm>
            <a:off x="8572500" y="4991070"/>
            <a:ext cx="476220" cy="13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2026-03-25T15:18:28Z</dcterms:created>
  <dcterms:modified xsi:type="dcterms:W3CDTF">2026-03-25T15:18:28Z</dcterms:modified>
</cp:coreProperties>
</file>