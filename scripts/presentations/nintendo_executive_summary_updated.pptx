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0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Business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Nintendo (TYO:7974) is a best-in-class international video game developer and video game console manufacturer, headquartered in Kyoto, 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The company is a global market leader, having contributed heavily to the industry's inception in the 1980s and experiencing multi-decade success ever since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Nintendo's stock is currently trading at a discount to its intrinsic value as well as relative to peers, making now an opportune time to invest in 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High grow rates since 2016 are driven largely by the company's release of the Nintendo Switch in 2017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Historical Financials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09160" y="1463040"/>
          <a:ext cx="40050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30352"/>
                <a:gridCol w="530352"/>
                <a:gridCol w="530352"/>
                <a:gridCol w="530352"/>
                <a:gridCol w="530352"/>
                <a:gridCol w="438912"/>
              </a:tblGrid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800" b="1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2015A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2016A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2017A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2018A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LTM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>
                          <a:solidFill>
                            <a:srgbClr val="000000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$4,430.3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$3,339.8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$9,188.8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$10,900.7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$11,175.2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26.0%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 i="1">
                          <a:solidFill>
                            <a:srgbClr val="000000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(24.6%)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175.1%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>
                          <a:solidFill>
                            <a:srgbClr val="000000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$1,871.4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$1,622.3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$3,419.3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$4,432.5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$4,654.6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25.6%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 i="1">
                          <a:solidFill>
                            <a:srgbClr val="000000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45.6%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37.2%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40.7%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41.7%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>
                          <a:solidFill>
                            <a:srgbClr val="000000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$365.9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$222.2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$1,485.3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$2,286.1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$2,377.7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59.7%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>
                          <a:solidFill>
                            <a:srgbClr val="000000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(39.3%)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568.3%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4.1%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 i="1">
                          <a:solidFill>
                            <a:srgbClr val="000000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21.3%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>
                          <a:solidFill>
                            <a:srgbClr val="000000"/>
                          </a:solidFill>
                        </a:defRPr>
                      </a:pPr>
                      <a:r>
                        <a:t>Note: R&amp;D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$526.9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$591.6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$525.6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$583.6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$583.6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  <a:tr h="166254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>
                          <a:solidFill>
                            <a:srgbClr val="000000"/>
                          </a:solidFill>
                        </a:defRPr>
                      </a:pPr>
                      <a:r>
                        <a:t>EBITDA Excl. R&amp;D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$892.8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$813.8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$2,010.9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$2,868.7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$2,961.4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35.0%</a:t>
                      </a:r>
                    </a:p>
                  </a:txBody>
                  <a:tcPr/>
                </a:tc>
              </a:tr>
              <a:tr h="166260">
                <a:tc>
                  <a:txBody>
                    <a:bodyPr lIns="38100" rIns="38100" tIns="25400" bIns="25400" wrap="square" anchor="ctr"/>
                    <a:lstStyle/>
                    <a:p>
                      <a:pPr algn="l">
                        <a:defRPr sz="700" b="1" i="1">
                          <a:solidFill>
                            <a:srgbClr val="000000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24.4%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21.9%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26.3%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  <a:r>
                        <a:t>26.5%</a:t>
                      </a:r>
                    </a:p>
                  </a:txBody>
                  <a:tcPr/>
                </a:tc>
                <a:tc>
                  <a:txBody>
                    <a:bodyPr lIns="38100" rIns="38100" tIns="25400" bIns="25400" wrap="square" anchor="ctr"/>
                    <a:lstStyle/>
                    <a:p>
                      <a:pPr algn="r">
                        <a:defRPr sz="700" b="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65760" y="347472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Deal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3931920" cy="21945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i="1">
                <a:solidFill>
                  <a:srgbClr val="595959"/>
                </a:solidFill>
              </a:defRPr>
            </a:pPr>
            <a:r>
              <a:t>[DEAL HISTORY PLACEHOLDER]</a:t>
            </a:r>
            <a:br/>
            <a:br/>
          </a:p>
          <a:p>
            <a:pPr>
              <a:spcAft>
                <a:spcPts val="600"/>
              </a:spcAft>
              <a:defRPr sz="900" i="1">
                <a:solidFill>
                  <a:srgbClr val="595959"/>
                </a:solidFill>
              </a:defRPr>
            </a:pPr>
            <a:r>
              <a:t>• [Deal details to be populated here]</a:t>
            </a:r>
          </a:p>
          <a:p>
            <a:pPr>
              <a:spcAft>
                <a:spcPts val="600"/>
              </a:spcAft>
              <a:defRPr sz="900" i="1">
                <a:solidFill>
                  <a:srgbClr val="595959"/>
                </a:solidFill>
              </a:defRPr>
            </a:pPr>
            <a:r>
              <a:t>• [Deal details to be populated here]</a:t>
            </a:r>
          </a:p>
          <a:p>
            <a:pPr>
              <a:spcAft>
                <a:spcPts val="600"/>
              </a:spcAft>
              <a:defRPr sz="900" i="1">
                <a:solidFill>
                  <a:srgbClr val="595959"/>
                </a:solidFill>
              </a:defRPr>
            </a:pPr>
            <a:r>
              <a:t>• [Deal details to be populated here]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47472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Recent News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3931920" cy="21945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1000" i="1">
                <a:solidFill>
                  <a:srgbClr val="595959"/>
                </a:solidFill>
              </a:defRPr>
            </a:pPr>
            <a:r>
              <a:t>[RECENT NEWS PLACEHOLDER]</a:t>
            </a:r>
            <a:br/>
            <a:br/>
          </a:p>
          <a:p>
            <a:pPr>
              <a:spcAft>
                <a:spcPts val="600"/>
              </a:spcAft>
              <a:defRPr sz="900" i="1">
                <a:solidFill>
                  <a:srgbClr val="595959"/>
                </a:solidFill>
              </a:defRPr>
            </a:pPr>
            <a:r>
              <a:t>• [News item to be populated here]</a:t>
            </a:r>
          </a:p>
          <a:p>
            <a:pPr>
              <a:spcAft>
                <a:spcPts val="600"/>
              </a:spcAft>
              <a:defRPr sz="900" i="1">
                <a:solidFill>
                  <a:srgbClr val="595959"/>
                </a:solidFill>
              </a:defRPr>
            </a:pPr>
            <a:r>
              <a:t>• [News item to be populated here]</a:t>
            </a:r>
          </a:p>
          <a:p>
            <a:pPr>
              <a:spcAft>
                <a:spcPts val="600"/>
              </a:spcAft>
              <a:defRPr sz="900" i="1">
                <a:solidFill>
                  <a:srgbClr val="595959"/>
                </a:solidFill>
              </a:defRPr>
            </a:pPr>
            <a:r>
              <a:t>• [News item to be populated here]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400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00000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