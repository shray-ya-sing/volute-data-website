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Business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Nintendo (TYO:7974) is a best-in-class international video game developer and video game console manufacturer, headquartered in Kyoto, Japan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The company is a global market leader, having contributed heavily to the industry's inception in the 1980s and experiencing multi-decade success ever since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Nintendo's stock is currently trading at a discount to its intrinsic value as well as relative to peers, making now an opportune time to invest in the company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900">
                <a:solidFill>
                  <a:srgbClr val="000000"/>
                </a:solidFill>
              </a:defRPr>
            </a:pPr>
            <a:r>
              <a:t>High grow rates since 2016 are driven largely by the company's release of the Nintendo Switch in 2017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00584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Historical Financials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463040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800" b="1">
                <a:solidFill>
                  <a:srgbClr val="000000"/>
                </a:solidFill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5577840" y="146304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800" b="1">
                <a:solidFill>
                  <a:srgbClr val="000000"/>
                </a:solidFill>
              </a:defRPr>
            </a:pPr>
            <a:r>
              <a:t>2015A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46304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800" b="1">
                <a:solidFill>
                  <a:srgbClr val="000000"/>
                </a:solidFill>
              </a:defRPr>
            </a:pPr>
            <a:r>
              <a:t>2016A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46304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800" b="1">
                <a:solidFill>
                  <a:srgbClr val="000000"/>
                </a:solidFill>
              </a:defRPr>
            </a:pPr>
            <a:r>
              <a:t>2017A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146304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800" b="1">
                <a:solidFill>
                  <a:srgbClr val="000000"/>
                </a:solidFill>
              </a:defRPr>
            </a:pPr>
            <a:r>
              <a:t>2018A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146304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800" b="1">
                <a:solidFill>
                  <a:srgbClr val="000000"/>
                </a:solidFill>
              </a:defRPr>
            </a:pPr>
            <a:r>
              <a:t>LTM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800" b="1">
                <a:solidFill>
                  <a:srgbClr val="000000"/>
                </a:solidFill>
              </a:defRPr>
            </a:pPr>
            <a:r>
              <a:t>CAGR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627632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162763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$4,430.3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162763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$3,339.8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62763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$9,188.8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162763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$10,900.7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162763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$11,175.2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27632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26.0%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1792224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 i="1">
                <a:solidFill>
                  <a:srgbClr val="000000"/>
                </a:solidFill>
              </a:defRPr>
            </a:pPr>
            <a:r>
              <a:t>YoY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179222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126480" y="179222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(24.6%)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79222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175.1%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179222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18.6%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179222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1792224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4663440" y="1956816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Gross Profit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195681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$1,871.4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195681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$1,622.3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195681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$3,419.3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195681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$4,432.5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195681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$4,654.6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1956816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25.6%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63440" y="2121408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 i="1">
                <a:solidFill>
                  <a:srgbClr val="000000"/>
                </a:solidFill>
              </a:defRPr>
            </a:pPr>
            <a:r>
              <a:t>Margin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77840" y="212140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41" name="TextBox 40"/>
          <p:cNvSpPr txBox="1"/>
          <p:nvPr/>
        </p:nvSpPr>
        <p:spPr>
          <a:xfrm>
            <a:off x="6126480" y="212140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45.6%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12140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37.2%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212140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40.7%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212140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41.7%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121408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46" name="TextBox 45"/>
          <p:cNvSpPr txBox="1"/>
          <p:nvPr/>
        </p:nvSpPr>
        <p:spPr>
          <a:xfrm>
            <a:off x="4663440" y="2286000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EBITDA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577840" y="228600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$365.9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26480" y="228600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$222.2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228600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$1,485.3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60" y="228600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$2,286.1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228600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$2,377.7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286000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59.7%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2450592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YoY Growth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577840" y="245059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55" name="TextBox 54"/>
          <p:cNvSpPr txBox="1"/>
          <p:nvPr/>
        </p:nvSpPr>
        <p:spPr>
          <a:xfrm>
            <a:off x="6126480" y="245059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(39.3%)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245059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568.3%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245059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53.8%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72400" y="2450592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4.1%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2450592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60" name="TextBox 59"/>
          <p:cNvSpPr txBox="1"/>
          <p:nvPr/>
        </p:nvSpPr>
        <p:spPr>
          <a:xfrm>
            <a:off x="4663440" y="2615184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 i="1">
                <a:solidFill>
                  <a:srgbClr val="000000"/>
                </a:solidFill>
              </a:defRPr>
            </a:pPr>
            <a:r>
              <a:t>Margin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77840" y="261518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62" name="TextBox 61"/>
          <p:cNvSpPr txBox="1"/>
          <p:nvPr/>
        </p:nvSpPr>
        <p:spPr>
          <a:xfrm>
            <a:off x="6126480" y="261518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6.7%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675120" y="261518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16.2%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261518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21.0%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72400" y="2615184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21.3%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321040" y="2615184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67" name="TextBox 66"/>
          <p:cNvSpPr txBox="1"/>
          <p:nvPr/>
        </p:nvSpPr>
        <p:spPr>
          <a:xfrm>
            <a:off x="4663440" y="2779776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Note: R&amp;D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277977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$526.9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126480" y="277977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$591.6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277977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$525.6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223760" y="277977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$583.6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72400" y="2779776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$583.6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321040" y="2779776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74" name="TextBox 73"/>
          <p:cNvSpPr txBox="1"/>
          <p:nvPr/>
        </p:nvSpPr>
        <p:spPr>
          <a:xfrm>
            <a:off x="4663440" y="2944368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EBITDA Excl. R&amp;D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294436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$892.8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126480" y="294436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$813.8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675120" y="294436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$2,010.9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23760" y="294436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$2,868.7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72400" y="2944368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$2,961.4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21040" y="2944368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35.0%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3440" y="3108960"/>
            <a:ext cx="9144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l">
              <a:defRPr sz="700" b="1">
                <a:solidFill>
                  <a:srgbClr val="000000"/>
                </a:solidFill>
              </a:defRPr>
            </a:pPr>
            <a:r>
              <a:t>Margin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77840" y="310896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83" name="TextBox 82"/>
          <p:cNvSpPr txBox="1"/>
          <p:nvPr/>
        </p:nvSpPr>
        <p:spPr>
          <a:xfrm>
            <a:off x="6126480" y="310896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24.4%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675120" y="310896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21.9%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23760" y="310896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26.3%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772400" y="3108960"/>
            <a:ext cx="54864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  <a:r>
              <a:t>26.5%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321040" y="3108960"/>
            <a:ext cx="457200" cy="164592"/>
          </a:xfrm>
          <a:prstGeom prst="rect">
            <a:avLst/>
          </a:prstGeom>
          <a:noFill/>
        </p:spPr>
        <p:txBody>
          <a:bodyPr wrap="none" lIns="25400" rIns="25400" tIns="12700" bIns="12700" anchor="ctr">
            <a:spAutoFit/>
          </a:bodyPr>
          <a:lstStyle/>
          <a:p>
            <a:pPr algn="r">
              <a:defRPr sz="700" b="0">
                <a:solidFill>
                  <a:srgbClr val="000000"/>
                </a:solidFill>
              </a:defRPr>
            </a:pPr>
          </a:p>
        </p:txBody>
      </p:sp>
      <p:sp>
        <p:nvSpPr>
          <p:cNvPr id="88" name="Rectangle 87"/>
          <p:cNvSpPr/>
          <p:nvPr/>
        </p:nvSpPr>
        <p:spPr>
          <a:xfrm>
            <a:off x="365760" y="347472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760" y="34747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Stock Performance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3931920"/>
            <a:ext cx="41148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8640" y="466344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595959"/>
                </a:solidFill>
              </a:defRPr>
            </a:pPr>
            <a:r>
              <a:t>[Stock Performance Chart]</a:t>
            </a:r>
          </a:p>
          <a:p>
            <a:r>
              <a:t>05-2015 to 05-2019</a:t>
            </a:r>
          </a:p>
          <a:p>
            <a:r>
              <a:t>Share Price and EV/EBITDA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663440" y="3474720"/>
            <a:ext cx="41148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663440" y="3474720"/>
            <a:ext cx="4114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Robust Top-Line Growth Profile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937760" y="5468598"/>
            <a:ext cx="594360" cy="292121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937760" y="5293375"/>
            <a:ext cx="594360" cy="17522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937760" y="5108196"/>
            <a:ext cx="594360" cy="185179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846320" y="4879596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$4,430.3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937760" y="5514318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$1,983.4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37760" y="5339095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$1,189.7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37760" y="5153916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$1,257.3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892040" y="580644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2015A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0" y="5555598"/>
            <a:ext cx="594360" cy="205121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0" y="5424840"/>
            <a:ext cx="594360" cy="13075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669280" y="5268823"/>
            <a:ext cx="594360" cy="156017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77840" y="5040223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$3,339.8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669280" y="5601318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$1,392.7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669280" y="5470560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$887.8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69280" y="5314543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$1,059.3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23560" y="580644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2016A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195093"/>
            <a:ext cx="594360" cy="565626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00800" y="4860259"/>
            <a:ext cx="594360" cy="334833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00800" y="4407363"/>
            <a:ext cx="594360" cy="452896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09360" y="4178763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$9,188.8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240813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$3,840.4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400800" y="4905979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$2,273.4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0" y="4453083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$3,075.0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55080" y="580644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2017A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132320" y="5053436"/>
            <a:ext cx="594360" cy="707283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132320" y="4698085"/>
            <a:ext cx="594360" cy="35535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132320" y="4155229"/>
            <a:ext cx="594360" cy="542856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40880" y="3926629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$10,900.7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32320" y="5099156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$4,802.2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132320" y="4743805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$2,412.7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32320" y="4200949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$3,685.8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086600" y="580644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2018A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863840" y="5216125"/>
            <a:ext cx="594360" cy="544594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863840" y="4660572"/>
            <a:ext cx="594360" cy="55555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863840" y="4114800"/>
            <a:ext cx="594360" cy="545772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772400" y="3886200"/>
            <a:ext cx="777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$11,175.2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863840" y="5261845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$3,697.6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863840" y="4706292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$3,772.0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863840" y="4160520"/>
            <a:ext cx="5943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FFFFF"/>
                </a:solidFill>
              </a:defRPr>
            </a:pPr>
            <a:r>
              <a:t>$3,705.6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818120" y="5806440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000000"/>
                </a:solidFill>
              </a:defRPr>
            </a:pPr>
            <a:r>
              <a:t>LTM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394960" y="60350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205B"/>
                </a:solidFill>
              </a:defRPr>
            </a:pPr>
            <a:r>
              <a:t>■ Americas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217920" y="60350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00000"/>
                </a:solidFill>
              </a:defRPr>
            </a:pPr>
            <a:r>
              <a:t>■ Japan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040880" y="603504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08080"/>
                </a:solidFill>
              </a:defRPr>
            </a:pPr>
            <a:r>
              <a:t>■ Other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754880" y="39776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00000"/>
                </a:solidFill>
              </a:defRPr>
            </a:pPr>
            <a:r>
              <a:t>2015-19 CAGR: 26.0%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4937760" y="4069080"/>
            <a:ext cx="3200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365760" y="6217920"/>
            <a:ext cx="457200" cy="36576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11480" y="6263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94360" y="626364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412480" y="63093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0">
                <a:solidFill>
                  <a:srgbClr val="000000"/>
                </a:solidFill>
              </a:defRPr>
            </a:pPr>
            <a:r>
              <a:t>4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0" y="6446520"/>
            <a:ext cx="9144000" cy="411480"/>
          </a:xfrm>
          <a:prstGeom prst="rect">
            <a:avLst/>
          </a:prstGeom>
          <a:solidFill>
            <a:srgbClr val="00205B"/>
          </a:solidFill>
          <a:ln>
            <a:solidFill>
              <a:srgbClr val="002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Investment Presentation / Pitch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